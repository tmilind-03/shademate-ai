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881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7369" y="2619375"/>
            <a:ext cx="42531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396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SQUAD · APRIL 2025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9604" y="3371850"/>
            <a:ext cx="6088643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400" b="1" kern="0" spc="-336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</a:t>
            </a:r>
            <a:r>
              <a:rPr lang="en-US" sz="8400" b="1" kern="0" spc="-336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3804502" y="4743450"/>
            <a:ext cx="1067884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i="1" kern="0" spc="29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shade intelligence layer for Indian beauty e-commerce"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116232" y="5410200"/>
            <a:ext cx="805523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kern="0" spc="126" dirty="0">
                <a:solidFill>
                  <a:srgbClr val="C4785C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· PLUG-AND-PLAY · BUILT FOR INDIAN SKIN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39089" y="6448425"/>
            <a:ext cx="9525" cy="57150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593361" y="7400925"/>
            <a:ext cx="51011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9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builders. One mission. Zero excuses.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648206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beauty brands absorb a cost they can't see coming.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3072705"/>
            <a:ext cx="7715250" cy="3308747"/>
          </a:xfrm>
          <a:prstGeom prst="roundRect">
            <a:avLst>
              <a:gd name="adj" fmla="val 3454"/>
            </a:avLst>
          </a:prstGeom>
          <a:solidFill>
            <a:srgbClr val="000000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6371927"/>
            <a:ext cx="7715250" cy="9525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3072705"/>
            <a:ext cx="7715250" cy="9525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072705"/>
            <a:ext cx="28575" cy="3308747"/>
          </a:xfrm>
          <a:prstGeom prst="rect">
            <a:avLst/>
          </a:prstGeom>
          <a:solidFill>
            <a:srgbClr val="B5603E"/>
          </a:solidFill>
          <a:ln/>
        </p:spPr>
      </p:sp>
      <p:sp>
        <p:nvSpPr>
          <p:cNvPr id="8" name="Shape 6"/>
          <p:cNvSpPr/>
          <p:nvPr/>
        </p:nvSpPr>
        <p:spPr>
          <a:xfrm>
            <a:off x="8848725" y="3072705"/>
            <a:ext cx="9525" cy="3308747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90675" y="3539430"/>
            <a:ext cx="70441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90675" y="4025205"/>
            <a:ext cx="7044119" cy="1927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400" i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"Priya runs a foundation brand from Surat. Every week, customers order 3 shades, keep 1, return 2. She loses money on every returned order — and has no way to stop it."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429750" y="3187005"/>
            <a:ext cx="95250" cy="95250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3072705"/>
            <a:ext cx="765238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buying colour cosmetics online order multiple shades to try at home — a behavior called </a:t>
            </a:r>
            <a:r>
              <a:rPr lang="en-US" sz="22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shade-bracketing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429750" y="4739580"/>
            <a:ext cx="95250" cy="95250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4625280"/>
            <a:ext cx="76523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businesses absorb every return. Reverse logistics alone costs </a:t>
            </a:r>
            <a:r>
              <a:rPr lang="en-US" sz="22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25–30% of order value </a:t>
            </a:r>
            <a:r>
              <a:rPr lang="en-US" sz="22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sub-₹1,500 items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429750" y="5863530"/>
            <a:ext cx="95250" cy="95250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16" name="Text 14"/>
          <p:cNvSpPr/>
          <p:nvPr/>
        </p:nvSpPr>
        <p:spPr>
          <a:xfrm>
            <a:off x="9715500" y="5749230"/>
            <a:ext cx="765238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players like Nykaa solve this with </a:t>
            </a:r>
            <a:r>
              <a:rPr lang="en-US" sz="22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technology </a:t>
            </a:r>
            <a:r>
              <a:rPr lang="en-US" sz="22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Small brands cannot.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143000" y="8572500"/>
            <a:ext cx="16002000" cy="952500"/>
          </a:xfrm>
          <a:prstGeom prst="roundRect">
            <a:avLst>
              <a:gd name="adj" fmla="val 10000"/>
            </a:avLst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55395" y="8848725"/>
            <a:ext cx="157772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problem isn't the customer. It's the absence of guidance at the moment of purchase."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6482060" cy="1107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900" b="1" kern="0" spc="-78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plug-and-play AI widget that embeds directly into any beauty store's existing website.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2365921" y="2908102"/>
            <a:ext cx="419100" cy="419100"/>
          </a:xfrm>
          <a:prstGeom prst="ellipse">
            <a:avLst/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37346" y="2917627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23268" y="3460552"/>
            <a:ext cx="1904554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visits product page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084290" y="322332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650260" y="2908102"/>
            <a:ext cx="419100" cy="419100"/>
          </a:xfrm>
          <a:prstGeom prst="ellipse">
            <a:avLst/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1685" y="2917627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13995" y="3460552"/>
            <a:ext cx="209163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 "Find Your Shade"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368629" y="322332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934450" y="2908102"/>
            <a:ext cx="419100" cy="419100"/>
          </a:xfrm>
          <a:prstGeom prst="ellipse">
            <a:avLst/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05875" y="2917627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43850" y="3460552"/>
            <a:ext cx="24003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selfie → AI detects skin tone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652820" y="322332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2218640" y="2908102"/>
            <a:ext cx="419100" cy="419100"/>
          </a:xfrm>
          <a:prstGeom prst="ellipse">
            <a:avLst/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90065" y="2917627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155859" y="3460552"/>
            <a:ext cx="2544663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against this store's catalogue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937010" y="3223320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5502830" y="2908102"/>
            <a:ext cx="419100" cy="419100"/>
          </a:xfrm>
          <a:prstGeom prst="ellipse">
            <a:avLst/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474255" y="2917627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339335" y="3460552"/>
            <a:ext cx="274609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shades shown → right product to cart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" y="5345906"/>
            <a:ext cx="2760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95276" y="5345906"/>
            <a:ext cx="51935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script tag. Five minutes to install.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562100" y="5984081"/>
            <a:ext cx="76257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developer required. ShadeMate handles full setup.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6703219"/>
            <a:ext cx="2760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495276" y="6517481"/>
            <a:ext cx="768197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Shopify, WooCommerce, or any custom website.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562100" y="7527131"/>
            <a:ext cx="76257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photo storage — DPDP-compliant from day one.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8246269"/>
            <a:ext cx="2760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495276" y="8060531"/>
            <a:ext cx="768197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against the store's own catalogue — not generic shades.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334500" y="4624388"/>
            <a:ext cx="7810500" cy="4900613"/>
          </a:xfrm>
          <a:prstGeom prst="roundRect">
            <a:avLst>
              <a:gd name="adj" fmla="val 3110"/>
            </a:avLst>
          </a:prstGeom>
          <a:solidFill>
            <a:srgbClr val="EDE7DF"/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25025" y="4976813"/>
            <a:ext cx="72403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OUTPUT — CUSTOMER VIEW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203061" y="5500688"/>
            <a:ext cx="609600" cy="609600"/>
          </a:xfrm>
          <a:prstGeom prst="ellipse">
            <a:avLst/>
          </a:prstGeom>
          <a:solidFill>
            <a:srgbClr val="C8956A"/>
          </a:solidFill>
          <a:ln w="190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45266" y="6205538"/>
            <a:ext cx="16013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Skin Tone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725025" y="6605588"/>
            <a:ext cx="16418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Medium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595497" y="5957888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12556331" y="5500688"/>
            <a:ext cx="609600" cy="609600"/>
          </a:xfrm>
          <a:prstGeom prst="ellipse">
            <a:avLst/>
          </a:prstGeom>
          <a:solidFill>
            <a:srgbClr val="D4A882"/>
          </a:solidFill>
          <a:ln w="190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289482" y="6205538"/>
            <a:ext cx="12196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Match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205097" y="6605588"/>
            <a:ext cx="13884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W200 Beige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725025" y="7129463"/>
            <a:ext cx="72403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Lakmé 9to5 Weightless Foundation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725025" y="7510462"/>
            <a:ext cx="1540669" cy="428625"/>
          </a:xfrm>
          <a:prstGeom prst="roundRect">
            <a:avLst>
              <a:gd name="adj" fmla="val 13333"/>
            </a:avLst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67900" y="7567612"/>
            <a:ext cx="133111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Best Pick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725025" y="8129588"/>
            <a:ext cx="1810643" cy="485775"/>
          </a:xfrm>
          <a:prstGeom prst="roundRect">
            <a:avLst>
              <a:gd name="adj" fmla="val 15686"/>
            </a:avLst>
          </a:prstGeom>
          <a:solidFill>
            <a:srgbClr val="B5603E"/>
          </a:solidFill>
          <a:ln/>
        </p:spPr>
      </p:sp>
      <p:sp>
        <p:nvSpPr>
          <p:cNvPr id="44" name="Text 42"/>
          <p:cNvSpPr/>
          <p:nvPr/>
        </p:nvSpPr>
        <p:spPr>
          <a:xfrm>
            <a:off x="9991725" y="8224837"/>
            <a:ext cx="13534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Cart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648206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distinct users. One clear transaction.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55515"/>
            <a:ext cx="7772400" cy="6226969"/>
          </a:xfrm>
          <a:prstGeom prst="roundRect">
            <a:avLst>
              <a:gd name="adj" fmla="val 2447"/>
            </a:avLst>
          </a:prstGeom>
          <a:solidFill>
            <a:srgbClr val="B5603E">
              <a:alpha val="8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9725" y="2960340"/>
            <a:ext cx="70441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CUSTOMER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9725" y="3484215"/>
            <a:ext cx="70441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Beauty Business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09725" y="4303365"/>
            <a:ext cx="76200" cy="76200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8" name="Text 6"/>
          <p:cNvSpPr/>
          <p:nvPr/>
        </p:nvSpPr>
        <p:spPr>
          <a:xfrm>
            <a:off x="1838325" y="4170015"/>
            <a:ext cx="545079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Small/mid beauty e-commerce brand in India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609725" y="4918621"/>
            <a:ext cx="76200" cy="76200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10" name="Text 8"/>
          <p:cNvSpPr/>
          <p:nvPr/>
        </p:nvSpPr>
        <p:spPr>
          <a:xfrm>
            <a:off x="1838325" y="4785271"/>
            <a:ext cx="680866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their own website — </a:t>
            </a:r>
            <a:r>
              <a:rPr lang="en-US" sz="210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Shopify, WooCommerce, or custom built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609725" y="5920532"/>
            <a:ext cx="76200" cy="76200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12" name="Text 10"/>
          <p:cNvSpPr/>
          <p:nvPr/>
        </p:nvSpPr>
        <p:spPr>
          <a:xfrm>
            <a:off x="1838325" y="5787182"/>
            <a:ext cx="680866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in-house technical team. Cannot build this themselves.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609725" y="6922443"/>
            <a:ext cx="76200" cy="76200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14" name="Text 12"/>
          <p:cNvSpPr/>
          <p:nvPr/>
        </p:nvSpPr>
        <p:spPr>
          <a:xfrm>
            <a:off x="1838325" y="6789093"/>
            <a:ext cx="446956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range: </a:t>
            </a:r>
            <a:r>
              <a:rPr lang="en-US" sz="210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₹2L – ₹50L/month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609725" y="7537698"/>
            <a:ext cx="76200" cy="76200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16" name="Text 14"/>
          <p:cNvSpPr/>
          <p:nvPr/>
        </p:nvSpPr>
        <p:spPr>
          <a:xfrm>
            <a:off x="1838325" y="7404348"/>
            <a:ext cx="680866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indie foundation brands, D2C lipstick labels, regional cosmetics stores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372600" y="2455515"/>
            <a:ext cx="7772400" cy="6226969"/>
          </a:xfrm>
          <a:prstGeom prst="roundRect">
            <a:avLst>
              <a:gd name="adj" fmla="val 2447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39325" y="2960340"/>
            <a:ext cx="70441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USER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39325" y="3484215"/>
            <a:ext cx="70441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Customer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839325" y="4303365"/>
            <a:ext cx="76200" cy="76200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67925" y="4170015"/>
            <a:ext cx="2626828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woman, 18–35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839325" y="4918621"/>
            <a:ext cx="76200" cy="76200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23" name="Text 21"/>
          <p:cNvSpPr/>
          <p:nvPr/>
        </p:nvSpPr>
        <p:spPr>
          <a:xfrm>
            <a:off x="10067925" y="4785271"/>
            <a:ext cx="4489338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online for colour cosmetics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839325" y="5533876"/>
            <a:ext cx="76200" cy="76200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25" name="Text 23"/>
          <p:cNvSpPr/>
          <p:nvPr/>
        </p:nvSpPr>
        <p:spPr>
          <a:xfrm>
            <a:off x="10067925" y="5400526"/>
            <a:ext cx="432163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returned a wrong shade before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839325" y="6149132"/>
            <a:ext cx="76200" cy="76200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27" name="Text 25"/>
          <p:cNvSpPr/>
          <p:nvPr/>
        </p:nvSpPr>
        <p:spPr>
          <a:xfrm>
            <a:off x="10067925" y="6015782"/>
            <a:ext cx="669185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</a:t>
            </a:r>
            <a:r>
              <a:rPr lang="en-US" sz="210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before buying </a:t>
            </a: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a refund after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43000" y="9063484"/>
            <a:ext cx="16002000" cy="9525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02970" y="9415909"/>
            <a:ext cx="164820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sell to the business. We solve for their customer."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66825"/>
            <a:ext cx="16482060" cy="119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beauty market is growing fast. Shade intelligence doesn't exist for 35,000 brands.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761655"/>
            <a:ext cx="5079950" cy="2144911"/>
          </a:xfrm>
          <a:prstGeom prst="roundRect">
            <a:avLst>
              <a:gd name="adj" fmla="val 6217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29798" y="3152180"/>
            <a:ext cx="450635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kern="0" spc="-96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429798" y="3876080"/>
            <a:ext cx="450635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beauty &amp; personal care market (IBEF 2025)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03950" y="2761655"/>
            <a:ext cx="5079950" cy="2144911"/>
          </a:xfrm>
          <a:prstGeom prst="roundRect">
            <a:avLst>
              <a:gd name="adj" fmla="val 6217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90749" y="3152180"/>
            <a:ext cx="450635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kern="0" spc="-96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890749" y="3876080"/>
            <a:ext cx="450635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beauty sales growth in just 6 months, 2024 (NielsenIQ)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64901" y="2761655"/>
            <a:ext cx="5079950" cy="2144911"/>
          </a:xfrm>
          <a:prstGeom prst="roundRect">
            <a:avLst>
              <a:gd name="adj" fmla="val 6217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51699" y="3152180"/>
            <a:ext cx="450635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kern="0" spc="-96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35,000+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351699" y="3876080"/>
            <a:ext cx="450635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Small/mid beauty stores with their own website in India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5325666"/>
            <a:ext cx="16002000" cy="714375"/>
          </a:xfrm>
          <a:prstGeom prst="roundRect">
            <a:avLst>
              <a:gd name="adj" fmla="val 10667"/>
            </a:avLst>
          </a:prstGeom>
          <a:solidFill>
            <a:srgbClr val="B5603E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5325666"/>
            <a:ext cx="28575" cy="714375"/>
          </a:xfrm>
          <a:prstGeom prst="rect">
            <a:avLst/>
          </a:prstGeom>
          <a:solidFill>
            <a:srgbClr val="B5603E"/>
          </a:solidFill>
          <a:ln/>
        </p:spPr>
      </p:sp>
      <p:sp>
        <p:nvSpPr>
          <p:cNvPr id="15" name="Text 13"/>
          <p:cNvSpPr/>
          <p:nvPr/>
        </p:nvSpPr>
        <p:spPr>
          <a:xfrm>
            <a:off x="1438275" y="5497116"/>
            <a:ext cx="159200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D2C beauty market grew 88% in 2024. 166+ D2C beauty startups. None have shade intelligence built in.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6711553"/>
            <a:ext cx="11555016" cy="9525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325791"/>
            <a:ext cx="1159686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698016" y="6711553"/>
            <a:ext cx="4446984" cy="9525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717006" y="6325791"/>
            <a:ext cx="42755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kern="0" spc="108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7273528"/>
            <a:ext cx="1155501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835378"/>
            <a:ext cx="115968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stores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2698016" y="7273528"/>
            <a:ext cx="4446984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717006" y="6835378"/>
            <a:ext cx="42755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~35,000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143000" y="7835503"/>
            <a:ext cx="1155501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397353"/>
            <a:ext cx="115968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reachable (2% of market)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698016" y="7835503"/>
            <a:ext cx="4446984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717006" y="7397353"/>
            <a:ext cx="42755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~700 stores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43000" y="8397478"/>
            <a:ext cx="1155501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295400" y="7959328"/>
            <a:ext cx="115968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paid clients (30% conversion)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698016" y="8397478"/>
            <a:ext cx="4446984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717006" y="7959328"/>
            <a:ext cx="42755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~210 clients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43000" y="8959453"/>
            <a:ext cx="1155501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295400" y="8521303"/>
            <a:ext cx="115968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annual revenue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698016" y="8959453"/>
            <a:ext cx="4446984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2717006" y="8521303"/>
            <a:ext cx="42755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~₹63 lakh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295400" y="9083278"/>
            <a:ext cx="1159686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annual revenue (5% penetration)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2717006" y="9083278"/>
            <a:ext cx="427559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~₹5.25 crore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43000" y="9602391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Shopify India data (StoreLeads Q1 2025), WooCommerce market share, McKinsey MSME survey 2025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VALUE PROPOSITION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648206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900" b="1" kern="0" spc="-78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businesses enterprise solutions ignore.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143000" y="2297013"/>
            <a:ext cx="16002000" cy="1957388"/>
          </a:xfrm>
          <a:prstGeom prst="roundRect">
            <a:avLst>
              <a:gd name="adj" fmla="val 6813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9725" y="2611338"/>
            <a:ext cx="15548610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small Indian beauty e-commerce businesses </a:t>
            </a:r>
            <a:r>
              <a:rPr lang="en-US" sz="225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shade returns and increase customer retention </a:t>
            </a:r>
            <a:r>
              <a:rPr lang="en-US" sz="22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by embedding AI shade intelligence directly into their existing store. Unlike enterprise solutions, ShadeMate requires </a:t>
            </a:r>
            <a:r>
              <a:rPr lang="en-US" sz="225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developer, no upfront cost</a:t>
            </a:r>
            <a:r>
              <a:rPr lang="en-US" sz="22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is calibrated for </a:t>
            </a:r>
            <a:r>
              <a:rPr lang="en-US" sz="225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skin tones</a:t>
            </a:r>
            <a:r>
              <a:rPr lang="en-US" sz="22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3000" y="4997351"/>
            <a:ext cx="5769173" cy="190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616351"/>
            <a:ext cx="56374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12173" y="4997351"/>
            <a:ext cx="2272903" cy="190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026473" y="4616351"/>
            <a:ext cx="20443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kern="0" spc="7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ShadeMate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85077" y="4997351"/>
            <a:ext cx="2529036" cy="190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299377" y="4616351"/>
            <a:ext cx="2300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kern="0" spc="72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Corp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714113" y="4997351"/>
            <a:ext cx="3172271" cy="190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18929" y="4616351"/>
            <a:ext cx="29626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kern="0" spc="72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L'Oreal Modiface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886384" y="4997351"/>
            <a:ext cx="2258616" cy="1905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000684" y="4616351"/>
            <a:ext cx="20300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kern="0" spc="72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43000" y="5583138"/>
            <a:ext cx="5769173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111651"/>
            <a:ext cx="5637449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skin tones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6912173" y="5583138"/>
            <a:ext cx="2272903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026473" y="5111651"/>
            <a:ext cx="2044303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85077" y="5583138"/>
            <a:ext cx="252903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299377" y="5111651"/>
            <a:ext cx="2300436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714113" y="5583138"/>
            <a:ext cx="3172271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818929" y="5111651"/>
            <a:ext cx="296264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4886384" y="5583138"/>
            <a:ext cx="225861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000684" y="5111651"/>
            <a:ext cx="2030016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143000" y="6154638"/>
            <a:ext cx="5769173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295400" y="5687913"/>
            <a:ext cx="563744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 for small businesses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912173" y="6154638"/>
            <a:ext cx="2272903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026473" y="5687913"/>
            <a:ext cx="20443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185077" y="6154638"/>
            <a:ext cx="252903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299377" y="5687913"/>
            <a:ext cx="23004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1714113" y="6154638"/>
            <a:ext cx="3172271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1818929" y="5687913"/>
            <a:ext cx="29626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4886384" y="6154638"/>
            <a:ext cx="225861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5000684" y="5687913"/>
            <a:ext cx="20300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143000" y="6726138"/>
            <a:ext cx="5769173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95400" y="6259413"/>
            <a:ext cx="563744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₹5,000/month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6912173" y="6726138"/>
            <a:ext cx="2272903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026473" y="6259413"/>
            <a:ext cx="20443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185077" y="6726138"/>
            <a:ext cx="252903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299377" y="6259413"/>
            <a:ext cx="23004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11714113" y="6726138"/>
            <a:ext cx="3172271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1818929" y="6259413"/>
            <a:ext cx="29626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4886384" y="6726138"/>
            <a:ext cx="225861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5000684" y="6259413"/>
            <a:ext cx="20300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1143000" y="7297638"/>
            <a:ext cx="5769173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295400" y="6830913"/>
            <a:ext cx="563744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any website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6912173" y="7297638"/>
            <a:ext cx="2272903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026473" y="6830913"/>
            <a:ext cx="20443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9185077" y="7297638"/>
            <a:ext cx="252903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299377" y="6830913"/>
            <a:ext cx="23004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52" name="Shape 50"/>
          <p:cNvSpPr/>
          <p:nvPr/>
        </p:nvSpPr>
        <p:spPr>
          <a:xfrm>
            <a:off x="11714113" y="7297638"/>
            <a:ext cx="3172271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1818929" y="6830913"/>
            <a:ext cx="29626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14886384" y="7297638"/>
            <a:ext cx="225861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5000684" y="6830913"/>
            <a:ext cx="20300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1143000" y="7869138"/>
            <a:ext cx="5769173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295400" y="7402413"/>
            <a:ext cx="563744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client's own catalogue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6912173" y="7869138"/>
            <a:ext cx="2272903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026473" y="7402413"/>
            <a:ext cx="20443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60" name="Shape 58"/>
          <p:cNvSpPr/>
          <p:nvPr/>
        </p:nvSpPr>
        <p:spPr>
          <a:xfrm>
            <a:off x="9185077" y="7869138"/>
            <a:ext cx="252903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299377" y="7402413"/>
            <a:ext cx="23004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62" name="Shape 60"/>
          <p:cNvSpPr/>
          <p:nvPr/>
        </p:nvSpPr>
        <p:spPr>
          <a:xfrm>
            <a:off x="11714113" y="7869138"/>
            <a:ext cx="3172271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1818929" y="7402413"/>
            <a:ext cx="29626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64" name="Shape 62"/>
          <p:cNvSpPr/>
          <p:nvPr/>
        </p:nvSpPr>
        <p:spPr>
          <a:xfrm>
            <a:off x="14886384" y="7869138"/>
            <a:ext cx="2258616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5000684" y="7402413"/>
            <a:ext cx="20300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66" name="Text 64"/>
          <p:cNvSpPr/>
          <p:nvPr/>
        </p:nvSpPr>
        <p:spPr>
          <a:xfrm>
            <a:off x="1295400" y="7973913"/>
            <a:ext cx="5637449" cy="414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dev team needed</a:t>
            </a:r>
            <a:endParaRPr lang="en-US" sz="1950" dirty="0"/>
          </a:p>
        </p:txBody>
      </p:sp>
      <p:sp>
        <p:nvSpPr>
          <p:cNvPr id="67" name="Text 65"/>
          <p:cNvSpPr/>
          <p:nvPr/>
        </p:nvSpPr>
        <p:spPr>
          <a:xfrm>
            <a:off x="7026473" y="7973913"/>
            <a:ext cx="2044303" cy="414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9299377" y="7973913"/>
            <a:ext cx="2300436" cy="414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11818929" y="7973913"/>
            <a:ext cx="2962640" cy="414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70" name="Text 68"/>
          <p:cNvSpPr/>
          <p:nvPr/>
        </p:nvSpPr>
        <p:spPr>
          <a:xfrm>
            <a:off x="15000684" y="7973913"/>
            <a:ext cx="2030016" cy="414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648206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only earn when they earn.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17415"/>
            <a:ext cx="5079950" cy="2859286"/>
          </a:xfrm>
          <a:prstGeom prst="roundRect">
            <a:avLst>
              <a:gd name="adj" fmla="val 4664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5425" y="2807940"/>
            <a:ext cx="45063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95425" y="3227040"/>
            <a:ext cx="4506353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Upfront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95425" y="3771751"/>
            <a:ext cx="450635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goes live. We handle full setup. Client pays nothing. Zero risk.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184850" y="2417415"/>
            <a:ext cx="457200" cy="2897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603950" y="2417415"/>
            <a:ext cx="5079950" cy="2859286"/>
          </a:xfrm>
          <a:prstGeom prst="roundRect">
            <a:avLst>
              <a:gd name="adj" fmla="val 4664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6375" y="2807940"/>
            <a:ext cx="45063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56375" y="3227040"/>
            <a:ext cx="4506353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Results Window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956375" y="3771751"/>
            <a:ext cx="450635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collected: recommendations served, returns avoided, revenue saved.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645801" y="2417415"/>
            <a:ext cx="457200" cy="2897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064901" y="2417415"/>
            <a:ext cx="5079950" cy="2859286"/>
          </a:xfrm>
          <a:prstGeom prst="roundRect">
            <a:avLst>
              <a:gd name="adj" fmla="val 4664"/>
            </a:avLst>
          </a:prstGeom>
          <a:solidFill>
            <a:srgbClr val="B5603E">
              <a:alpha val="8000"/>
            </a:srgbClr>
          </a:solidFill>
          <a:ln w="9525">
            <a:solidFill>
              <a:srgbClr val="B5603E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17326" y="2807940"/>
            <a:ext cx="45063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417326" y="3227040"/>
            <a:ext cx="4506353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on Results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17326" y="3771751"/>
            <a:ext cx="450635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</a:t>
            </a: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estimated revenue saved. Floor: ₹999/mo · Ceiling: ₹4,999/mo </a:t>
            </a:r>
            <a:r>
              <a:rPr lang="en-US" sz="19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results = No bill.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43000" y="5695801"/>
            <a:ext cx="16002000" cy="2762250"/>
          </a:xfrm>
          <a:prstGeom prst="roundRect">
            <a:avLst>
              <a:gd name="adj" fmla="val 4828"/>
            </a:avLst>
          </a:prstGeom>
          <a:solidFill>
            <a:srgbClr val="EDE7DF"/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1625" y="6172051"/>
            <a:ext cx="76425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605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200 recommendations served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571625" y="6553051"/>
            <a:ext cx="76425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094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 80 customers acted (40%)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571625" y="6934051"/>
            <a:ext cx="76425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094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 24 estimated returns avoided (30%)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571625" y="7315051"/>
            <a:ext cx="76425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094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 ₹800 AOV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571625" y="7696051"/>
            <a:ext cx="76425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4785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→ ₹19,200 estimated revenue saved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296400" y="6048226"/>
            <a:ext cx="9525" cy="2057400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648825" y="6048226"/>
            <a:ext cx="72795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SHADEMATE FEE (15%)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48825" y="6410176"/>
            <a:ext cx="727957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₹2,880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9648825" y="7038826"/>
            <a:ext cx="72795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48825" y="7515076"/>
            <a:ext cx="727957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from their own data. No black box. No arbitrary number.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6482060" cy="119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kern="0" spc="-84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competition serves enterprises. We serve the 35,000 brands they ignore.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952155"/>
            <a:ext cx="5079950" cy="5601295"/>
          </a:xfrm>
          <a:prstGeom prst="roundRect">
            <a:avLst>
              <a:gd name="adj" fmla="val 2625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3380780"/>
            <a:ext cx="44278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COMPETITORS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33525" y="3866555"/>
            <a:ext cx="4427867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Corp &amp; L'Oreal Modiface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533525" y="4925616"/>
            <a:ext cx="4427867" cy="2646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Enterprise-only. Not available to small businesses. Not built for Indian skin tones. Expensive. Require dedicated implementation teams.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533525" y="7724775"/>
            <a:ext cx="42989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76400" y="7791450"/>
            <a:ext cx="41421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accessible to small brands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03950" y="2952155"/>
            <a:ext cx="5079950" cy="5601295"/>
          </a:xfrm>
          <a:prstGeom prst="roundRect">
            <a:avLst>
              <a:gd name="adj" fmla="val 2625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4475" y="3380780"/>
            <a:ext cx="44278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COMPETITOR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94475" y="3866555"/>
            <a:ext cx="4427867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Nykaa's In-House Shade Finder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994475" y="4925616"/>
            <a:ext cx="4427867" cy="2646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Exists only on Nykaa's own platform. Not available as a service to any other business. Their investment proves the problem is real — not that the market is served.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994475" y="7724775"/>
            <a:ext cx="42989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7350" y="7791450"/>
            <a:ext cx="41421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Marketplace-locked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064901" y="2952155"/>
            <a:ext cx="5079950" cy="5601295"/>
          </a:xfrm>
          <a:prstGeom prst="roundRect">
            <a:avLst>
              <a:gd name="adj" fmla="val 2625"/>
            </a:avLst>
          </a:prstGeom>
          <a:solidFill>
            <a:srgbClr val="B5603E">
              <a:alpha val="7000"/>
            </a:srgbClr>
          </a:solidFill>
          <a:ln w="9525">
            <a:solidFill>
              <a:srgbClr val="C4785C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55426" y="3380780"/>
            <a:ext cx="44278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COMPETITOR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55426" y="3866555"/>
            <a:ext cx="4427867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Quo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2455426" y="4491335"/>
            <a:ext cx="4427867" cy="308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orders 3 shades → tries them → returns 2. Business absorbs the loss. Every. Single. Time. This is what most brands are living with today.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455426" y="7724775"/>
            <a:ext cx="4298900" cy="400050"/>
          </a:xfrm>
          <a:prstGeom prst="roundRect">
            <a:avLst>
              <a:gd name="adj" fmla="val 14286"/>
            </a:avLst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98301" y="7791450"/>
            <a:ext cx="41421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ShadeMate fills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8858250"/>
            <a:ext cx="16002000" cy="9525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02970" y="9172575"/>
            <a:ext cx="1648206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existing solution is accessible, affordable, and built for Indian skin diversity."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648206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Ahmedabad pilot → Gujarat → Pan-India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17415"/>
            <a:ext cx="5079950" cy="7128272"/>
          </a:xfrm>
          <a:prstGeom prst="roundRect">
            <a:avLst>
              <a:gd name="adj" fmla="val 2625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2846040"/>
            <a:ext cx="44278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33525" y="3331815"/>
            <a:ext cx="4427867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Ahmedabad Pilot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533525" y="3933676"/>
            <a:ext cx="4427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1–3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33525" y="4505176"/>
            <a:ext cx="66675" cy="66675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9" name="Text 7"/>
          <p:cNvSpPr/>
          <p:nvPr/>
        </p:nvSpPr>
        <p:spPr>
          <a:xfrm>
            <a:off x="1733550" y="4390876"/>
            <a:ext cx="4221842" cy="1832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directly to local beauty brands. Open with the ROI conversation: </a:t>
            </a:r>
            <a:r>
              <a:rPr lang="en-US" sz="1950" i="1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customers are returning shades. We stop that. Zero cost for 60 days."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533525" y="6433393"/>
            <a:ext cx="66675" cy="66675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11" name="Text 9"/>
          <p:cNvSpPr/>
          <p:nvPr/>
        </p:nvSpPr>
        <p:spPr>
          <a:xfrm>
            <a:off x="1733550" y="6319093"/>
            <a:ext cx="4221842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ShadeMate handles full onboarding — no technical effort from the client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533525" y="7284690"/>
            <a:ext cx="66675" cy="66675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13" name="Text 11"/>
          <p:cNvSpPr/>
          <p:nvPr/>
        </p:nvSpPr>
        <p:spPr>
          <a:xfrm>
            <a:off x="1733550" y="7170390"/>
            <a:ext cx="4221842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pays only after seeing their own data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533525" y="8078837"/>
            <a:ext cx="4298900" cy="9525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33525" y="8278862"/>
            <a:ext cx="442786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clients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533525" y="8793212"/>
            <a:ext cx="44278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₹7,500 MRR after Day 60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6603950" y="2417415"/>
            <a:ext cx="5079950" cy="7128272"/>
          </a:xfrm>
          <a:prstGeom prst="roundRect">
            <a:avLst>
              <a:gd name="adj" fmla="val 2625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4475" y="2846040"/>
            <a:ext cx="44278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4475" y="3331815"/>
            <a:ext cx="4427867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Gujarat Growth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994475" y="3933676"/>
            <a:ext cx="4427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4–9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94475" y="4505176"/>
            <a:ext cx="66675" cy="66675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22" name="Text 20"/>
          <p:cNvSpPr/>
          <p:nvPr/>
        </p:nvSpPr>
        <p:spPr>
          <a:xfrm>
            <a:off x="7194500" y="4390876"/>
            <a:ext cx="4221842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data becomes the case study — leads with numbers, not promises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6994475" y="5715446"/>
            <a:ext cx="66675" cy="66675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24" name="Text 22"/>
          <p:cNvSpPr/>
          <p:nvPr/>
        </p:nvSpPr>
        <p:spPr>
          <a:xfrm>
            <a:off x="7194500" y="5601146"/>
            <a:ext cx="4221842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D2C seller communities in Gujarat — peer validation in trusted channel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6994475" y="6925717"/>
            <a:ext cx="66675" cy="66675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26" name="Text 24"/>
          <p:cNvSpPr/>
          <p:nvPr/>
        </p:nvSpPr>
        <p:spPr>
          <a:xfrm>
            <a:off x="7194500" y="6811417"/>
            <a:ext cx="4221842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ROI-led cold email to Surat, Vadodara, Rajkot beauty brands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6994475" y="8078837"/>
            <a:ext cx="4298900" cy="9525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994475" y="8278862"/>
            <a:ext cx="442786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clients</a:t>
            </a:r>
            <a:endParaRPr lang="en-US" sz="2850" dirty="0"/>
          </a:p>
        </p:txBody>
      </p:sp>
      <p:sp>
        <p:nvSpPr>
          <p:cNvPr id="29" name="Text 27"/>
          <p:cNvSpPr/>
          <p:nvPr/>
        </p:nvSpPr>
        <p:spPr>
          <a:xfrm>
            <a:off x="6994475" y="8793212"/>
            <a:ext cx="44278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₹1.25L MRR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064901" y="2417415"/>
            <a:ext cx="5079950" cy="7128272"/>
          </a:xfrm>
          <a:prstGeom prst="roundRect">
            <a:avLst>
              <a:gd name="adj" fmla="val 2625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455426" y="2846040"/>
            <a:ext cx="44278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55426" y="3331815"/>
            <a:ext cx="4427867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Pan-India Scale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2455426" y="3933676"/>
            <a:ext cx="4427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10+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455426" y="4505176"/>
            <a:ext cx="66675" cy="66675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35" name="Text 33"/>
          <p:cNvSpPr/>
          <p:nvPr/>
        </p:nvSpPr>
        <p:spPr>
          <a:xfrm>
            <a:off x="12655451" y="4390876"/>
            <a:ext cx="4221842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India partner referral network — consultants earn ₹500 per paid client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2455426" y="5715446"/>
            <a:ext cx="66675" cy="66675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37" name="Text 35"/>
          <p:cNvSpPr/>
          <p:nvPr/>
        </p:nvSpPr>
        <p:spPr>
          <a:xfrm>
            <a:off x="12655451" y="5601146"/>
            <a:ext cx="4221842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content on Instagram + LinkedIn targeting beauty business owners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2455426" y="6925717"/>
            <a:ext cx="66675" cy="66675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39" name="Text 37"/>
          <p:cNvSpPr/>
          <p:nvPr/>
        </p:nvSpPr>
        <p:spPr>
          <a:xfrm>
            <a:off x="12655451" y="6811417"/>
            <a:ext cx="4221842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Hunt + IndieHackers listing for inbound SaaS discovery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2455426" y="8078837"/>
            <a:ext cx="4298900" cy="9525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2455426" y="8278862"/>
            <a:ext cx="442786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clients</a:t>
            </a:r>
            <a:endParaRPr lang="en-US" sz="2850" dirty="0"/>
          </a:p>
        </p:txBody>
      </p:sp>
      <p:sp>
        <p:nvSpPr>
          <p:cNvPr id="42" name="Text 40"/>
          <p:cNvSpPr/>
          <p:nvPr/>
        </p:nvSpPr>
        <p:spPr>
          <a:xfrm>
            <a:off x="12455426" y="8793212"/>
            <a:ext cx="44278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₹5L MRR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648206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builders. Full-stack coverage.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17415"/>
            <a:ext cx="3800475" cy="3146971"/>
          </a:xfrm>
          <a:prstGeom prst="roundRect">
            <a:avLst>
              <a:gd name="adj" fmla="val 3632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9225" y="2731740"/>
            <a:ext cx="495300" cy="495300"/>
          </a:xfrm>
          <a:prstGeom prst="ellipse">
            <a:avLst/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0650" y="2741265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9225" y="3398490"/>
            <a:ext cx="33454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Milind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9225" y="3874740"/>
            <a:ext cx="33454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9225" y="4303365"/>
            <a:ext cx="33454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skin tone detection service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10175" y="2417415"/>
            <a:ext cx="3800475" cy="3146971"/>
          </a:xfrm>
          <a:prstGeom prst="roundRect">
            <a:avLst>
              <a:gd name="adj" fmla="val 3632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2731740"/>
            <a:ext cx="495300" cy="495300"/>
          </a:xfrm>
          <a:prstGeom prst="ellipse">
            <a:avLst/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7825" y="2741265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3398490"/>
            <a:ext cx="33454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Sujal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0" y="3874740"/>
            <a:ext cx="33454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Engineer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4303365"/>
            <a:ext cx="33454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data layer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77350" y="2417415"/>
            <a:ext cx="3800475" cy="3146971"/>
          </a:xfrm>
          <a:prstGeom prst="roundRect">
            <a:avLst>
              <a:gd name="adj" fmla="val 3632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3575" y="2731740"/>
            <a:ext cx="495300" cy="495300"/>
          </a:xfrm>
          <a:prstGeom prst="ellipse">
            <a:avLst/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25000" y="2741265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53575" y="3398490"/>
            <a:ext cx="33454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Shreya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553575" y="3874740"/>
            <a:ext cx="33454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Dev · Security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53575" y="4303365"/>
            <a:ext cx="334546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demo + DPDP compliance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344525" y="2417415"/>
            <a:ext cx="3800475" cy="3146971"/>
          </a:xfrm>
          <a:prstGeom prst="roundRect">
            <a:avLst>
              <a:gd name="adj" fmla="val 3632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620750" y="2731740"/>
            <a:ext cx="495300" cy="495300"/>
          </a:xfrm>
          <a:prstGeom prst="ellipse">
            <a:avLst/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592175" y="2741265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620750" y="3398490"/>
            <a:ext cx="33454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Uvaish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620750" y="3874740"/>
            <a:ext cx="33454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Developer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620750" y="4303365"/>
            <a:ext cx="334546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widget + merchant dashboard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43000" y="5831086"/>
            <a:ext cx="3800475" cy="2827139"/>
          </a:xfrm>
          <a:prstGeom prst="roundRect">
            <a:avLst>
              <a:gd name="adj" fmla="val 4043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9225" y="6145411"/>
            <a:ext cx="495300" cy="495300"/>
          </a:xfrm>
          <a:prstGeom prst="ellipse">
            <a:avLst/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90650" y="6154936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19225" y="6812161"/>
            <a:ext cx="33454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Nikul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419225" y="7288411"/>
            <a:ext cx="33454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19225" y="7717036"/>
            <a:ext cx="33454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UI + dashboard UX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210175" y="5831086"/>
            <a:ext cx="3800475" cy="2827139"/>
          </a:xfrm>
          <a:prstGeom prst="roundRect">
            <a:avLst>
              <a:gd name="adj" fmla="val 4043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6145411"/>
            <a:ext cx="495300" cy="495300"/>
          </a:xfrm>
          <a:prstGeom prst="ellipse">
            <a:avLst/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7825" y="6154936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86400" y="6812161"/>
            <a:ext cx="33454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Harshil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486400" y="7288411"/>
            <a:ext cx="33454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· Marketing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86400" y="7717036"/>
            <a:ext cx="33454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+ content strategy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277350" y="5831086"/>
            <a:ext cx="3800475" cy="2827139"/>
          </a:xfrm>
          <a:prstGeom prst="roundRect">
            <a:avLst>
              <a:gd name="adj" fmla="val 4043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53575" y="6145411"/>
            <a:ext cx="495300" cy="495300"/>
          </a:xfrm>
          <a:prstGeom prst="ellipse">
            <a:avLst/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25000" y="6154936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553575" y="6812161"/>
            <a:ext cx="33454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Sahil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553575" y="7288411"/>
            <a:ext cx="33454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 Designer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553575" y="7717036"/>
            <a:ext cx="33454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 + visuals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43000" y="8924925"/>
            <a:ext cx="16002000" cy="9525"/>
          </a:xfrm>
          <a:prstGeom prst="rect">
            <a:avLst/>
          </a:prstGeom>
          <a:solidFill>
            <a:srgbClr val="000000">
              <a:alpha val="9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02970" y="9201150"/>
            <a:ext cx="16482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backend, frontend, and design — all built in-house. </a:t>
            </a:r>
            <a:r>
              <a:rPr lang="en-US" sz="1950" i="1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outsourcing.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648206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9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 is Phase 1. The opportunity is much larger.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93615"/>
            <a:ext cx="5079950" cy="7031385"/>
          </a:xfrm>
          <a:prstGeom prst="roundRect">
            <a:avLst>
              <a:gd name="adj" fmla="val 2625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2503140"/>
            <a:ext cx="5060900" cy="28575"/>
          </a:xfrm>
          <a:prstGeom prst="rect">
            <a:avLst/>
          </a:prstGeom>
          <a:solidFill>
            <a:srgbClr val="B5603E"/>
          </a:solidFill>
          <a:ln/>
        </p:spPr>
      </p:sp>
      <p:sp>
        <p:nvSpPr>
          <p:cNvPr id="6" name="Text 4"/>
          <p:cNvSpPr/>
          <p:nvPr/>
        </p:nvSpPr>
        <p:spPr>
          <a:xfrm>
            <a:off x="1533525" y="2922240"/>
            <a:ext cx="44278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NOW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33525" y="3408015"/>
            <a:ext cx="442786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 &amp; Colour Cosmetics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33525" y="4627215"/>
            <a:ext cx="66675" cy="66675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9" name="Text 7"/>
          <p:cNvSpPr/>
          <p:nvPr/>
        </p:nvSpPr>
        <p:spPr>
          <a:xfrm>
            <a:off x="1733550" y="4512915"/>
            <a:ext cx="422184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Foundation, concealer, lipstick, blush, eyeshadow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533525" y="5533876"/>
            <a:ext cx="66675" cy="66675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11" name="Text 9"/>
          <p:cNvSpPr/>
          <p:nvPr/>
        </p:nvSpPr>
        <p:spPr>
          <a:xfrm>
            <a:off x="1733550" y="5419576"/>
            <a:ext cx="422184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skin tone detection + Delta-E shade matching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533525" y="6440537"/>
            <a:ext cx="66675" cy="66675"/>
          </a:xfrm>
          <a:prstGeom prst="ellipse">
            <a:avLst/>
          </a:prstGeom>
          <a:solidFill>
            <a:srgbClr val="B5603E"/>
          </a:solidFill>
          <a:ln/>
        </p:spPr>
      </p:sp>
      <p:sp>
        <p:nvSpPr>
          <p:cNvPr id="13" name="Text 11"/>
          <p:cNvSpPr/>
          <p:nvPr/>
        </p:nvSpPr>
        <p:spPr>
          <a:xfrm>
            <a:off x="1733550" y="6326237"/>
            <a:ext cx="422184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 widget for any beauty store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533525" y="8667750"/>
            <a:ext cx="1024979" cy="428625"/>
          </a:xfrm>
          <a:prstGeom prst="roundRect">
            <a:avLst>
              <a:gd name="adj" fmla="val 13333"/>
            </a:avLst>
          </a:prstGeom>
          <a:solidFill>
            <a:srgbClr val="B5603E">
              <a:alpha val="10000"/>
            </a:srgbClr>
          </a:solidFill>
          <a:ln w="9525">
            <a:solidFill>
              <a:srgbClr val="C4785C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5450" y="8734425"/>
            <a:ext cx="7773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47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03950" y="2493615"/>
            <a:ext cx="5079950" cy="7031385"/>
          </a:xfrm>
          <a:prstGeom prst="roundRect">
            <a:avLst>
              <a:gd name="adj" fmla="val 2625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13475" y="2503140"/>
            <a:ext cx="5060900" cy="28575"/>
          </a:xfrm>
          <a:prstGeom prst="rect">
            <a:avLst/>
          </a:prstGeom>
          <a:solidFill>
            <a:srgbClr val="B5603E"/>
          </a:solidFill>
          <a:ln/>
        </p:spPr>
      </p:sp>
      <p:sp>
        <p:nvSpPr>
          <p:cNvPr id="18" name="Text 16"/>
          <p:cNvSpPr/>
          <p:nvPr/>
        </p:nvSpPr>
        <p:spPr>
          <a:xfrm>
            <a:off x="6994475" y="2922240"/>
            <a:ext cx="44278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ROADMAP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4475" y="3408015"/>
            <a:ext cx="442786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 &amp; Occasion Matching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6994475" y="4627215"/>
            <a:ext cx="66675" cy="66675"/>
          </a:xfrm>
          <a:prstGeom prst="ellipse">
            <a:avLst/>
          </a:prstGeom>
          <a:solidFill>
            <a:srgbClr val="A0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194500" y="4512915"/>
            <a:ext cx="422184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harmony engine for clothing &amp; apparel stores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994475" y="5533876"/>
            <a:ext cx="66675" cy="66675"/>
          </a:xfrm>
          <a:prstGeom prst="ellipse">
            <a:avLst/>
          </a:prstGeom>
          <a:solidFill>
            <a:srgbClr val="A0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7194500" y="5419576"/>
            <a:ext cx="422184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Occasion selector — Daily, Office, Wedding, Festival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994475" y="6440537"/>
            <a:ext cx="66675" cy="66675"/>
          </a:xfrm>
          <a:prstGeom prst="ellipse">
            <a:avLst/>
          </a:prstGeom>
          <a:solidFill>
            <a:srgbClr val="A0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194500" y="6326237"/>
            <a:ext cx="422184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virtual try-on for lip and eye products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6994475" y="8667750"/>
            <a:ext cx="1210717" cy="428625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6400" y="8734425"/>
            <a:ext cx="9630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064901" y="2493615"/>
            <a:ext cx="5079950" cy="7031385"/>
          </a:xfrm>
          <a:prstGeom prst="roundRect">
            <a:avLst>
              <a:gd name="adj" fmla="val 2625"/>
            </a:avLst>
          </a:prstGeom>
          <a:solidFill>
            <a:srgbClr val="000000">
              <a:alpha val="4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074426" y="2503140"/>
            <a:ext cx="5060900" cy="28575"/>
          </a:xfrm>
          <a:prstGeom prst="rect">
            <a:avLst/>
          </a:prstGeom>
          <a:solidFill>
            <a:srgbClr val="C4785C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455426" y="2922240"/>
            <a:ext cx="44278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VISION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455426" y="3408015"/>
            <a:ext cx="442786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Outfit + Makeup Intelligence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12455426" y="4627215"/>
            <a:ext cx="66675" cy="66675"/>
          </a:xfrm>
          <a:prstGeom prst="ellipse">
            <a:avLst/>
          </a:prstGeom>
          <a:solidFill>
            <a:srgbClr val="A0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12655451" y="4512915"/>
            <a:ext cx="422184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outfit + makeup combination recommendations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2455426" y="5533876"/>
            <a:ext cx="66675" cy="66675"/>
          </a:xfrm>
          <a:prstGeom prst="ellipse">
            <a:avLst/>
          </a:prstGeom>
          <a:solidFill>
            <a:srgbClr val="A0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12655451" y="5419576"/>
            <a:ext cx="422184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 between beauty and clothing on one platform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2455426" y="6440537"/>
            <a:ext cx="66675" cy="66675"/>
          </a:xfrm>
          <a:prstGeom prst="ellipse">
            <a:avLst/>
          </a:prstGeom>
          <a:solidFill>
            <a:srgbClr val="A0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12655451" y="6326237"/>
            <a:ext cx="4221842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Occasion-based filtering fully integrated across categories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2455426" y="8667750"/>
            <a:ext cx="1045815" cy="428625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000000">
                <a:alpha val="9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617351" y="8734425"/>
            <a:ext cx="7981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6475" y="2736056"/>
            <a:ext cx="13735050" cy="2109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350" b="1" kern="0" spc="-87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35,000 beauty brands in India are losing money to shade returns every month. They can't build what we've built. </a:t>
            </a:r>
            <a:r>
              <a:rPr lang="en-US" sz="4350" b="1" kern="0" spc="-87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can.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4778276" y="5379244"/>
            <a:ext cx="342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92598" y="5379244"/>
            <a:ext cx="850285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skin tone detection calibrated for </a:t>
            </a:r>
            <a:r>
              <a:rPr lang="en-US" sz="210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skin — fair to deep brown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881265" y="5884069"/>
            <a:ext cx="342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198679" y="5884069"/>
            <a:ext cx="82905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Embeds in any store with </a:t>
            </a:r>
            <a:r>
              <a:rPr lang="en-US" sz="210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script tag </a:t>
            </a: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developer, no friction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749552" y="6388894"/>
            <a:ext cx="342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63012" y="6388894"/>
            <a:ext cx="85620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B6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tied to results — </a:t>
            </a:r>
            <a:r>
              <a:rPr lang="en-US" sz="2100" dirty="0">
                <a:solidFill>
                  <a:srgbClr val="1C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pay only when returns actually drop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62073" y="7312819"/>
            <a:ext cx="91638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kern="0" spc="84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</a:t>
            </a:r>
            <a:r>
              <a:rPr lang="en-US" sz="2100" b="1" kern="0" spc="84" dirty="0">
                <a:solidFill>
                  <a:srgbClr val="B56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 </a:t>
            </a:r>
            <a:r>
              <a:rPr lang="en-US" sz="2100" b="1" kern="0" spc="84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800" i="1" kern="0" spc="84" dirty="0">
                <a:solidFill>
                  <a:srgbClr val="A0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shade intelligence layer for Indian beauty e-commerce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1396</Words>
  <Application>Microsoft Office PowerPoint</Application>
  <PresentationFormat>Custom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DM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Milind Thanki</cp:lastModifiedBy>
  <cp:revision>2</cp:revision>
  <dcterms:created xsi:type="dcterms:W3CDTF">2026-04-27T23:55:25Z</dcterms:created>
  <dcterms:modified xsi:type="dcterms:W3CDTF">2026-04-28T08:44:15Z</dcterms:modified>
</cp:coreProperties>
</file>